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0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10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LLMs, Agents &amp; MCP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200400"/>
            <a:ext cx="21031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474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A deep dive into AI Agents and the Model Context Protocol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572000"/>
            <a:ext cx="1645920" cy="5486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B1120"/>
                </a:solidFill>
                <a:latin typeface="Segoe UI"/>
              </a:defRPr>
            </a:pPr>
            <a:r>
              <a:t>LLM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92040" y="4663440"/>
            <a:ext cx="365760" cy="32004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20" y="4572000"/>
            <a:ext cx="1645920" cy="54864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B1120"/>
                </a:solidFill>
                <a:latin typeface="Segoe UI"/>
              </a:defRPr>
            </a:pPr>
            <a:r>
              <a:t>Agent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95160" y="4663440"/>
            <a:ext cx="365760" cy="32004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06640" y="4572000"/>
            <a:ext cx="1645920" cy="5486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B1120"/>
                </a:solidFill>
                <a:latin typeface="Segoe UI"/>
              </a:defRPr>
            </a:pPr>
            <a:r>
              <a:t>MCP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Team Knowledge Session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What is a Large Language Model?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The AI brain -- powerful but limited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926080" cy="438912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292608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Natural language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2560320" cy="41148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334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"Summarize this document"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2560320" cy="41148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821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"Write Python to sort a list"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2560320" cy="41148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307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"What causes rain?"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51959"/>
            <a:ext cx="2560320" cy="41148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7939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"Draft a marketing email"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00600"/>
            <a:ext cx="2560320" cy="41148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28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"Review this code for bugs"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474720" y="3657600"/>
            <a:ext cx="548640" cy="320040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14800" y="1645920"/>
            <a:ext cx="3931920" cy="43891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0" y="1645920"/>
            <a:ext cx="393192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1783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LARGE LANGUAGE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148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GPT-4o  |  Claude  |  Gemini  |  Llama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6517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Trained 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8803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trillions of words from</a:t>
            </a:r>
            <a:br/>
            <a:r>
              <a:t>books, web,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6576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Contains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886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billions of tunable</a:t>
            </a:r>
            <a:br/>
            <a:r>
              <a:t>parameters (weights)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663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Core task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8920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predict the most likely</a:t>
            </a:r>
            <a:br/>
            <a:r>
              <a:t>next token/word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6517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Strength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28803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understands context,</a:t>
            </a:r>
            <a:br/>
            <a:r>
              <a:t>nuance, and intent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36576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8862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generates coherent</a:t>
            </a:r>
            <a:br/>
            <a:r>
              <a:t>human-like 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6634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Segoe UI"/>
              </a:defRPr>
            </a:pPr>
            <a:r>
              <a:t>Limit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8920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7171"/>
                </a:solidFill>
                <a:latin typeface="Segoe UI"/>
              </a:defRPr>
            </a:pPr>
            <a:r>
              <a:t>ONLY produces text.</a:t>
            </a:r>
            <a:br/>
            <a:r>
              <a:t>Cannot act on the world.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138160" y="3657600"/>
            <a:ext cx="548640" cy="320040"/>
          </a:xfrm>
          <a:prstGeom prst="rightArrow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778240" y="1645920"/>
            <a:ext cx="2926080" cy="438912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78240" y="1645920"/>
            <a:ext cx="292608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0" y="1783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Generated text only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2606040"/>
            <a:ext cx="2560320" cy="41148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26334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A 3-paragraph summary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61120" y="3154680"/>
            <a:ext cx="2560320" cy="41148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98280" y="31821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Working sort function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61120" y="3703320"/>
            <a:ext cx="2560320" cy="41148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98280" y="37307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Scientific explanation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61120" y="4251959"/>
            <a:ext cx="2560320" cy="41148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98280" y="427939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Polished email draft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1120" y="4800600"/>
            <a:ext cx="2560320" cy="41148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98280" y="4828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Bug analysis report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828800" y="6217920"/>
            <a:ext cx="8503920" cy="45720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28800" y="6236208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D34D"/>
                </a:solidFill>
                <a:latin typeface="Segoe UI"/>
              </a:defRPr>
            </a:pPr>
            <a:r>
              <a:t>KEY LIMITATION:  LLMs generate text but cannot browse the web, read files, call APIs, or take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Gap: LLMs Can Think, But Can't 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What if we gave them hands?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5303520" cy="36576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3035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Segoe UI"/>
              </a:defRPr>
            </a:pPr>
            <a:r>
              <a:t>WHAT LLMs CAN 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320040" cy="3200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B1120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Generate text, code, summaries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Great at writing, translating, explaining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34640"/>
            <a:ext cx="320040" cy="3200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B1120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Reason about complex problems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Logic, math, multi-step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320040" cy="3200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B1120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747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Understand context &amp; intent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49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Reads between the lines, catches nuance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114799"/>
            <a:ext cx="320040" cy="3200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B1120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1479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Answer from training knowledge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89119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Trained on massive datasets up to cutoff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1554480"/>
            <a:ext cx="5852160" cy="36576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0" y="1554480"/>
            <a:ext cx="5852160" cy="381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WHAT LLMs CANNOT 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2194560"/>
            <a:ext cx="320040" cy="320040"/>
          </a:xfrm>
          <a:prstGeom prst="round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194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Access live data or the internet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46888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Training data has a cutoff -- no real-time info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834640"/>
            <a:ext cx="320040" cy="320040"/>
          </a:xfrm>
          <a:prstGeom prst="round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834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Read your files, DBs, or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10896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Cannot see anything outside the prompt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474720"/>
            <a:ext cx="320040" cy="320040"/>
          </a:xfrm>
          <a:prstGeom prst="round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474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Take actions in the real world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7490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Can't send emails, create tickets, deploy code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114799"/>
            <a:ext cx="320040" cy="320040"/>
          </a:xfrm>
          <a:prstGeom prst="round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11479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Execute code or call APIs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389119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 write code, but cannot run it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5760720" y="4389120"/>
            <a:ext cx="320040" cy="457200"/>
          </a:xfrm>
          <a:prstGeom prst="downArrow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371600" y="5029200"/>
            <a:ext cx="9418320" cy="164592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71600" y="5029200"/>
            <a:ext cx="9418320" cy="381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51663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Segoe UI"/>
              </a:defRPr>
            </a:pPr>
            <a:r>
              <a:t>THE SOLUTION: Give the LLM superpowers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54480" y="5669280"/>
            <a:ext cx="109728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B1120"/>
                </a:solidFill>
                <a:latin typeface="Segoe UI"/>
              </a:defRPr>
            </a:pPr>
            <a:r>
              <a:t>+ Tools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5669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Let it call APIs, run code, access databases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5669280"/>
            <a:ext cx="1097280" cy="3200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B1120"/>
                </a:solidFill>
                <a:latin typeface="Segoe UI"/>
              </a:defRPr>
            </a:pPr>
            <a:r>
              <a:t>+ Memory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669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Let it remember context across interactions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5669280"/>
            <a:ext cx="1097280" cy="32004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B1120"/>
                </a:solidFill>
                <a:latin typeface="Segoe UI"/>
              </a:defRPr>
            </a:pPr>
            <a:r>
              <a:t>+ Autonomy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5669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Let it plan multi-step tasks and self-correct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626364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D34D"/>
                </a:solidFill>
                <a:latin typeface="Segoe UI"/>
              </a:defRPr>
            </a:pPr>
            <a:r>
              <a:t>LLM + Tools + Memory + Autonomy  =  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What is an AI Agent?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An autonomous system that perceives, reasons, plans, and 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011680"/>
            <a:ext cx="4389120" cy="201168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0" y="2011680"/>
            <a:ext cx="438912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LLM  (The Reasoning Engine)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60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Understands intent  |  Makes decisions  |  Self-corrects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3017520"/>
            <a:ext cx="86868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120"/>
                </a:solidFill>
                <a:latin typeface="Segoe UI"/>
              </a:defRPr>
            </a:pPr>
            <a:r>
              <a:t>Perceive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017520"/>
            <a:ext cx="868680" cy="32004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120"/>
                </a:solidFill>
                <a:latin typeface="Segoe UI"/>
              </a:defRPr>
            </a:pPr>
            <a:r>
              <a:t>Reason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017520"/>
            <a:ext cx="868680" cy="3200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120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017520"/>
            <a:ext cx="868680" cy="320040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120"/>
                </a:solidFill>
                <a:latin typeface="Segoe UI"/>
              </a:defRPr>
            </a:pPr>
            <a:r>
              <a:t>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554480"/>
            <a:ext cx="3017520" cy="384048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554480"/>
            <a:ext cx="30175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011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What the agent can 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377440"/>
            <a:ext cx="25603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Call APIs &amp; web services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61488"/>
            <a:ext cx="25603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Execute code &amp; commands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45536"/>
            <a:ext cx="25603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Read &amp; write 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29584"/>
            <a:ext cx="25603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Query databases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13632"/>
            <a:ext cx="25603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Search the internet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297680"/>
            <a:ext cx="25603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Send messages &amp; emails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337560" y="2834640"/>
            <a:ext cx="457200" cy="320040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869680" y="1554480"/>
            <a:ext cx="3017520" cy="384048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0" y="1554480"/>
            <a:ext cx="30175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1691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Segoe UI"/>
              </a:defRPr>
            </a:pPr>
            <a:r>
              <a:t>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01168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What the agent KNOWS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2377440"/>
            <a:ext cx="25603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Conversation history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2761488"/>
            <a:ext cx="25603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Prior decisions &amp; results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3145536"/>
            <a:ext cx="25603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Retrieved knowledge (RAG)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60" y="3529584"/>
            <a:ext cx="25603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User preferences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60" y="3913632"/>
            <a:ext cx="25603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Task progress &amp; state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4297680"/>
            <a:ext cx="25603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Long-term learned facts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321040" y="2834640"/>
            <a:ext cx="457200" cy="320040"/>
          </a:xfrm>
          <a:prstGeom prst="rightArrow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74320" y="5577840"/>
            <a:ext cx="11612880" cy="109728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5577840"/>
            <a:ext cx="11612880" cy="381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623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Segoe UI"/>
              </a:defRPr>
            </a:pPr>
            <a:r>
              <a:t>ENVIRONMENT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86000" y="5943600"/>
            <a:ext cx="118872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File system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0" y="5943600"/>
            <a:ext cx="118872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Databases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0" y="5943600"/>
            <a:ext cx="118872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APIs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0" y="5943600"/>
            <a:ext cx="118872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Web browsers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5943600"/>
            <a:ext cx="118872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Terminals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5943600"/>
            <a:ext cx="118872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Cloud services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15600" y="5943600"/>
            <a:ext cx="118872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Users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0400" y="4297680"/>
            <a:ext cx="5760720" cy="45720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0" y="4315968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BD34D"/>
                </a:solidFill>
                <a:latin typeface="Segoe UI"/>
              </a:defRPr>
            </a:pPr>
            <a:r>
              <a:t>AGENT  =  LLM  +  Tools  +  Memory  +  Environment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How Agents Work: The Agent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The core pattern behind every AI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1828800" cy="32004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1828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164592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120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PERCEIVE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0312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Agent receives input:</a:t>
            </a:r>
            <a:br/>
            <a:r>
              <a:t>user request, tool results,</a:t>
            </a:r>
            <a:br/>
            <a:r>
              <a:t>or environment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657600"/>
            <a:ext cx="1645920" cy="2743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What happened?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103120" y="2651760"/>
            <a:ext cx="137160" cy="32004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40280" y="1554480"/>
            <a:ext cx="1828800" cy="32004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40280" y="1554480"/>
            <a:ext cx="182880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1645920"/>
            <a:ext cx="365760" cy="3657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120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16642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REASON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10312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LLM analyzes the situation:</a:t>
            </a:r>
            <a:br/>
            <a:r>
              <a:t>what's the goal, what do</a:t>
            </a:r>
            <a:br/>
            <a:r>
              <a:t>I know, what's missing?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3657600"/>
            <a:ext cx="1645920" cy="2743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A78BFA"/>
                </a:solidFill>
                <a:latin typeface="Segoe UI"/>
              </a:defRPr>
            </a:pPr>
            <a:r>
              <a:t>What do I know?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69080" y="2651760"/>
            <a:ext cx="137160" cy="32004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06240" y="1554480"/>
            <a:ext cx="1828800" cy="32004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1554480"/>
            <a:ext cx="182880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297680" y="1645920"/>
            <a:ext cx="365760" cy="3657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120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16642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210312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Break the task into steps:</a:t>
            </a:r>
            <a:br/>
            <a:r>
              <a:t>prioritize, identify tools</a:t>
            </a:r>
            <a:br/>
            <a:r>
              <a:t>needed, estimate approach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657600"/>
            <a:ext cx="1645920" cy="2743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ADE80"/>
                </a:solidFill>
                <a:latin typeface="Segoe UI"/>
              </a:defRPr>
            </a:pPr>
            <a:r>
              <a:t>What should I do?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35040" y="2651760"/>
            <a:ext cx="137160" cy="32004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72199" y="1554480"/>
            <a:ext cx="1828800" cy="32004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199" y="1554480"/>
            <a:ext cx="1828800" cy="381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63639" y="1645920"/>
            <a:ext cx="365760" cy="36576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120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39" y="16642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Segoe UI"/>
              </a:defRPr>
            </a:pPr>
            <a:r>
              <a:t>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39" y="210312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Execute the next step:</a:t>
            </a:r>
            <a:br/>
            <a:r>
              <a:t>call a tool, write code,</a:t>
            </a:r>
            <a:br/>
            <a:r>
              <a:t>query a database, etc.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39" y="3657600"/>
            <a:ext cx="1645920" cy="2743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B923C"/>
                </a:solidFill>
                <a:latin typeface="Segoe UI"/>
              </a:defRPr>
            </a:pPr>
            <a:r>
              <a:t>Do the thing!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000999" y="2651760"/>
            <a:ext cx="137160" cy="32004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38160" y="1554480"/>
            <a:ext cx="1828800" cy="32004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1554480"/>
            <a:ext cx="1828800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29600" y="1645920"/>
            <a:ext cx="365760" cy="36576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120"/>
                </a:solidFill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16642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D4BF"/>
                </a:solidFill>
                <a:latin typeface="Segoe UI"/>
              </a:defRPr>
            </a:pPr>
            <a:r>
              <a:t>OBSERVE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10312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Read the result of the</a:t>
            </a:r>
            <a:br/>
            <a:r>
              <a:t>action: did it work?</a:t>
            </a:r>
            <a:br/>
            <a:r>
              <a:t>any errors? new data?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3657600"/>
            <a:ext cx="1645920" cy="2743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DD4BF"/>
                </a:solidFill>
                <a:latin typeface="Segoe UI"/>
              </a:defRPr>
            </a:pPr>
            <a:r>
              <a:t>What happened?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966960" y="2651760"/>
            <a:ext cx="137160" cy="32004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104120" y="1554480"/>
            <a:ext cx="1828800" cy="32004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104120" y="1554480"/>
            <a:ext cx="1828800" cy="381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195560" y="1645920"/>
            <a:ext cx="365760" cy="36576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120"/>
                </a:solidFill>
              </a:defRPr>
            </a:pPr>
            <a: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16642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72B6"/>
                </a:solidFill>
                <a:latin typeface="Segoe UI"/>
              </a:defRPr>
            </a:pPr>
            <a:r>
              <a:t>REFLECT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95560" y="2103120"/>
            <a:ext cx="1645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Evaluate progress: am I</a:t>
            </a:r>
            <a:br/>
            <a:r>
              <a:t>done? do I need to retry?</a:t>
            </a:r>
            <a:br/>
            <a:r>
              <a:t>should I change my plan?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95560" y="3657600"/>
            <a:ext cx="1645920" cy="2743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472B6"/>
                </a:solidFill>
                <a:latin typeface="Segoe UI"/>
              </a:defRPr>
            </a:pPr>
            <a:r>
              <a:t>How did it go?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74320" y="4937760"/>
            <a:ext cx="11612880" cy="54864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4956048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D34D"/>
                </a:solidFill>
                <a:latin typeface="Segoe UI"/>
              </a:defRPr>
            </a:pPr>
            <a:r>
              <a:t>LOOP BACK to step 1 if not done  ---  Each iteration gets closer to the goal  ---  Agent decides when to stop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5669280"/>
            <a:ext cx="11612880" cy="9144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715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WHY THIS MATTERS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6080760"/>
            <a:ext cx="1371600" cy="27432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1120"/>
                </a:solidFill>
                <a:latin typeface="Segoe UI"/>
              </a:defRPr>
            </a:pPr>
            <a:r>
              <a:t>Self-correcting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20240" y="6080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If a tool call fails, agent retries with a different approach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97680" y="6080760"/>
            <a:ext cx="1371600" cy="27432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1120"/>
                </a:solidFill>
                <a:latin typeface="Segoe UI"/>
              </a:defRPr>
            </a:pPr>
            <a:r>
              <a:t>Multi-step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6080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Complex tasks are broken down and executed incrementally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138160" y="6080760"/>
            <a:ext cx="1371600" cy="274320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B1120"/>
                </a:solidFill>
                <a:latin typeface="Segoe UI"/>
              </a:defRPr>
            </a:pPr>
            <a:r>
              <a:t>Autonomous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6080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No human needed between steps -- agent drives itself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4 Agentic Design 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Building blocks you can combine for any AI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1463040"/>
            <a:ext cx="2834640" cy="521208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463040"/>
            <a:ext cx="283464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554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REFLECTION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7451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Agent reviews its own output</a:t>
            </a:r>
            <a:br/>
            <a:r>
              <a:t>before delivering.</a:t>
            </a:r>
          </a:p>
        </p:txBody>
      </p:sp>
      <p:sp>
        <p:nvSpPr>
          <p:cNvPr id="10" name="Oval 9"/>
          <p:cNvSpPr/>
          <p:nvPr/>
        </p:nvSpPr>
        <p:spPr>
          <a:xfrm>
            <a:off x="320040" y="2624328"/>
            <a:ext cx="228600" cy="2286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Generate initial 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" y="2852928"/>
            <a:ext cx="25400" cy="2286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3081528"/>
            <a:ext cx="228600" cy="2286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63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Critique: "Is this correct?"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" y="3310128"/>
            <a:ext cx="25400" cy="2286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0040" y="3538728"/>
            <a:ext cx="228600" cy="2286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Find gaps or errors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" y="3767328"/>
            <a:ext cx="25400" cy="2286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0040" y="3995928"/>
            <a:ext cx="228600" cy="2286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776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Revise and improve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" y="4224528"/>
            <a:ext cx="25400" cy="2286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20040" y="4453128"/>
            <a:ext cx="228600" cy="2286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Deliver polished result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074920"/>
            <a:ext cx="2606040" cy="86868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10235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BDF8"/>
                </a:solidFill>
                <a:latin typeface="Segoe UI"/>
              </a:defRPr>
            </a:pPr>
            <a:r>
              <a:t>Example: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03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"Write tests, then review</a:t>
            </a:r>
            <a:br/>
            <a:r>
              <a:t>them for edge cases"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9893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Code review, writing, QA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1463040"/>
            <a:ext cx="2834640" cy="521208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0" y="1463040"/>
            <a:ext cx="283464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37560" y="1554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TOOL 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187451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Agent decides which tools</a:t>
            </a:r>
            <a:br/>
            <a:r>
              <a:t>to call and when.</a:t>
            </a:r>
          </a:p>
        </p:txBody>
      </p:sp>
      <p:sp>
        <p:nvSpPr>
          <p:cNvPr id="32" name="Oval 31"/>
          <p:cNvSpPr/>
          <p:nvPr/>
        </p:nvSpPr>
        <p:spPr>
          <a:xfrm>
            <a:off x="3337560" y="2624328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2606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Analyze what's needed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38144" y="2852928"/>
            <a:ext cx="25400" cy="2286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337560" y="3081528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3063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Select the right tool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38144" y="3310128"/>
            <a:ext cx="25400" cy="2286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337560" y="3538728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35204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Call tool with parameters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38144" y="3767328"/>
            <a:ext cx="25400" cy="2286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337560" y="3995928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39776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Process the result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38144" y="4224528"/>
            <a:ext cx="25400" cy="2286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337560" y="4453128"/>
            <a:ext cx="228600" cy="2286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4348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Decide: done or next tool?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91840" y="5074920"/>
            <a:ext cx="2606040" cy="86868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3280" y="510235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78BFA"/>
                </a:solidFill>
                <a:latin typeface="Segoe UI"/>
              </a:defRPr>
            </a:pPr>
            <a:r>
              <a:t>Example: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5303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"Look up the customer,</a:t>
            </a:r>
            <a:br/>
            <a:r>
              <a:t>then check their orders"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37560" y="59893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Data analysis, automation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1463040"/>
            <a:ext cx="2834640" cy="521208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1463040"/>
            <a:ext cx="283464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1554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PLANNING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187451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Agent breaks complex tasks</a:t>
            </a:r>
            <a:br/>
            <a:r>
              <a:t>into ordered sub-tasks.</a:t>
            </a:r>
          </a:p>
        </p:txBody>
      </p:sp>
      <p:sp>
        <p:nvSpPr>
          <p:cNvPr id="54" name="Oval 53"/>
          <p:cNvSpPr/>
          <p:nvPr/>
        </p:nvSpPr>
        <p:spPr>
          <a:xfrm>
            <a:off x="6355080" y="2624328"/>
            <a:ext cx="228600" cy="2286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2606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Decompose into sub-tasks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55664" y="2852928"/>
            <a:ext cx="25400" cy="2286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355080" y="3081528"/>
            <a:ext cx="228600" cy="2286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3063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Order by dependencies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55664" y="3310128"/>
            <a:ext cx="25400" cy="2286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355080" y="3538728"/>
            <a:ext cx="228600" cy="2286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75120" y="35204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Execute step by step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55664" y="3767328"/>
            <a:ext cx="25400" cy="2286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355080" y="3995928"/>
            <a:ext cx="228600" cy="2286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0" y="39776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Re-plan if something fails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55664" y="4224528"/>
            <a:ext cx="25400" cy="2286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355080" y="4453128"/>
            <a:ext cx="228600" cy="2286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75120" y="44348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Verify all steps complete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309360" y="5074920"/>
            <a:ext cx="2606040" cy="86868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0" y="510235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Segoe UI"/>
              </a:defRPr>
            </a:pPr>
            <a:r>
              <a:t>Example: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5303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"Migrate this API:</a:t>
            </a:r>
            <a:br/>
            <a:r>
              <a:t>plan steps first"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55080" y="59893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Research, project scoping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235439" y="1463040"/>
            <a:ext cx="2834640" cy="521208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35439" y="1463040"/>
            <a:ext cx="2834640" cy="381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372599" y="15544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MULTI-AGENT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372599" y="1874519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Specialized agents collaborate</a:t>
            </a:r>
            <a:br/>
            <a:r>
              <a:t>on different parts.</a:t>
            </a:r>
          </a:p>
        </p:txBody>
      </p:sp>
      <p:sp>
        <p:nvSpPr>
          <p:cNvPr id="76" name="Oval 75"/>
          <p:cNvSpPr/>
          <p:nvPr/>
        </p:nvSpPr>
        <p:spPr>
          <a:xfrm>
            <a:off x="9372599" y="2624328"/>
            <a:ext cx="228600" cy="2286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92639" y="26060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Planner agent designs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73183" y="2852928"/>
            <a:ext cx="25400" cy="2286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372599" y="3081528"/>
            <a:ext cx="228600" cy="2286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92639" y="3063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Coder agent implements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473183" y="3310128"/>
            <a:ext cx="25400" cy="2286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372599" y="3538728"/>
            <a:ext cx="228600" cy="2286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92639" y="35204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Reviewer agent checks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473183" y="3767328"/>
            <a:ext cx="25400" cy="2286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372599" y="3995928"/>
            <a:ext cx="228600" cy="2286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692639" y="39776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Agents hand off work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473183" y="4224528"/>
            <a:ext cx="25400" cy="2286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372599" y="4453128"/>
            <a:ext cx="228600" cy="2286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B1120"/>
                </a:solidFill>
              </a:defRPr>
            </a:pPr>
            <a: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92639" y="44348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Orchestrator manages all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326879" y="5074920"/>
            <a:ext cx="2606040" cy="86868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418319" y="510235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923C"/>
                </a:solidFill>
                <a:latin typeface="Segoe UI"/>
              </a:defRPr>
            </a:pPr>
            <a:r>
              <a:t>Example: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18319" y="5303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BD5E1"/>
                </a:solidFill>
                <a:latin typeface="Segoe UI"/>
              </a:defRPr>
            </a:pPr>
            <a:r>
              <a:t>"Architect + Developer +</a:t>
            </a:r>
            <a:br/>
            <a:r>
              <a:t>QA each do their part"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72599" y="59893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Software dev,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Agent in Action: A Real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Watch an agent handle: "Find the bug in prod, fix it, and notify the team"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1408176"/>
            <a:ext cx="347472" cy="34747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120"/>
                </a:solidFill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755648"/>
            <a:ext cx="25400" cy="18288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371600"/>
            <a:ext cx="11887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PERCEIVE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3898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User asks: "There's a 500 error in prod, fix it"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1938528"/>
            <a:ext cx="347472" cy="34747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120"/>
                </a:solidFill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2286000"/>
            <a:ext cx="25400" cy="18288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901952"/>
            <a:ext cx="11887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A78BFA"/>
                </a:solidFill>
                <a:latin typeface="Segoe UI"/>
              </a:defRPr>
            </a:pPr>
            <a: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Agent decides: check logs &gt; find error &gt; read code &gt; fix &gt; test &gt; notify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2468880"/>
            <a:ext cx="347472" cy="34747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120"/>
                </a:solidFill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" y="2816352"/>
            <a:ext cx="25400" cy="18288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2432304"/>
            <a:ext cx="11887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ADE80"/>
                </a:solidFill>
                <a:latin typeface="Segoe UI"/>
              </a:defRPr>
            </a:pPr>
            <a:r>
              <a:t>ACT: Search logs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4505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Calls log search tool: search_logs(status=500, last='1h')</a:t>
            </a:r>
          </a:p>
        </p:txBody>
      </p:sp>
      <p:sp>
        <p:nvSpPr>
          <p:cNvPr id="18" name="Oval 17"/>
          <p:cNvSpPr/>
          <p:nvPr/>
        </p:nvSpPr>
        <p:spPr>
          <a:xfrm>
            <a:off x="365760" y="2999231"/>
            <a:ext cx="347472" cy="34747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120"/>
                </a:solidFill>
              </a:defRPr>
            </a:pPr>
            <a: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7" y="3346703"/>
            <a:ext cx="25400" cy="18288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2962655"/>
            <a:ext cx="11887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2DD4BF"/>
                </a:solidFill>
                <a:latin typeface="Segoe UI"/>
              </a:defRPr>
            </a:pPr>
            <a:r>
              <a:t>OBSERVE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298094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Gets result: NullPointerError in /api/users line 42</a:t>
            </a:r>
          </a:p>
        </p:txBody>
      </p:sp>
      <p:sp>
        <p:nvSpPr>
          <p:cNvPr id="22" name="Oval 21"/>
          <p:cNvSpPr/>
          <p:nvPr/>
        </p:nvSpPr>
        <p:spPr>
          <a:xfrm>
            <a:off x="365760" y="3529584"/>
            <a:ext cx="347472" cy="34747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120"/>
                </a:solidFill>
              </a:defRPr>
            </a:pPr>
            <a: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7" y="3877056"/>
            <a:ext cx="25400" cy="18288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3493008"/>
            <a:ext cx="11887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ADE80"/>
                </a:solidFill>
                <a:latin typeface="Segoe UI"/>
              </a:defRPr>
            </a:pPr>
            <a:r>
              <a:t>ACT: Read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5112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Calls file read tool: read_file('api/users.py', line=42)</a:t>
            </a:r>
          </a:p>
        </p:txBody>
      </p:sp>
      <p:sp>
        <p:nvSpPr>
          <p:cNvPr id="26" name="Oval 25"/>
          <p:cNvSpPr/>
          <p:nvPr/>
        </p:nvSpPr>
        <p:spPr>
          <a:xfrm>
            <a:off x="365760" y="4059936"/>
            <a:ext cx="347472" cy="34747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120"/>
                </a:solidFill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7" y="4407408"/>
            <a:ext cx="25400" cy="18288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" y="4023360"/>
            <a:ext cx="11887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A78BFA"/>
                </a:solidFill>
                <a:latin typeface="Segoe UI"/>
              </a:defRPr>
            </a:pPr>
            <a:r>
              <a:t>REASON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40416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Identifies: user.email accessed before null check</a:t>
            </a:r>
          </a:p>
        </p:txBody>
      </p:sp>
      <p:sp>
        <p:nvSpPr>
          <p:cNvPr id="30" name="Oval 29"/>
          <p:cNvSpPr/>
          <p:nvPr/>
        </p:nvSpPr>
        <p:spPr>
          <a:xfrm>
            <a:off x="365760" y="4590287"/>
            <a:ext cx="347472" cy="34747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120"/>
                </a:solidFill>
              </a:defRPr>
            </a:pPr>
            <a:r>
              <a:t>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" y="4937759"/>
            <a:ext cx="25400" cy="18288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" y="4553711"/>
            <a:ext cx="11887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B923C"/>
                </a:solidFill>
                <a:latin typeface="Segoe UI"/>
              </a:defRPr>
            </a:pPr>
            <a:r>
              <a:t>ACT: Fix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457199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Calls edit tool: edit_file('api/users.py', ...) -- adds null check</a:t>
            </a:r>
          </a:p>
        </p:txBody>
      </p:sp>
      <p:sp>
        <p:nvSpPr>
          <p:cNvPr id="34" name="Oval 33"/>
          <p:cNvSpPr/>
          <p:nvPr/>
        </p:nvSpPr>
        <p:spPr>
          <a:xfrm>
            <a:off x="365760" y="5120639"/>
            <a:ext cx="347472" cy="347472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120"/>
                </a:solidFill>
              </a:defRPr>
            </a:pPr>
            <a: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7" y="5468111"/>
            <a:ext cx="25400" cy="18288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" y="5084063"/>
            <a:ext cx="11887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4ADE80"/>
                </a:solidFill>
                <a:latin typeface="Segoe UI"/>
              </a:defRPr>
            </a:pPr>
            <a:r>
              <a:t>ACT: Run tests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510235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Calls test tool: run_tests('test_users.py') -- all pass!</a:t>
            </a:r>
          </a:p>
        </p:txBody>
      </p:sp>
      <p:sp>
        <p:nvSpPr>
          <p:cNvPr id="38" name="Oval 37"/>
          <p:cNvSpPr/>
          <p:nvPr/>
        </p:nvSpPr>
        <p:spPr>
          <a:xfrm>
            <a:off x="365760" y="5650992"/>
            <a:ext cx="347472" cy="347472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120"/>
                </a:solidFill>
              </a:defRPr>
            </a:pPr>
            <a:r>
              <a:t>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7" y="5998464"/>
            <a:ext cx="25400" cy="18288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22960" y="5614416"/>
            <a:ext cx="11887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472B6"/>
                </a:solidFill>
                <a:latin typeface="Segoe UI"/>
              </a:defRPr>
            </a:pPr>
            <a:r>
              <a:t>ACT: Notify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56327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Calls Slack tool: send_message('#dev', 'Fixed NullPtr in /api/users')</a:t>
            </a:r>
          </a:p>
        </p:txBody>
      </p:sp>
      <p:sp>
        <p:nvSpPr>
          <p:cNvPr id="42" name="Oval 41"/>
          <p:cNvSpPr/>
          <p:nvPr/>
        </p:nvSpPr>
        <p:spPr>
          <a:xfrm>
            <a:off x="365760" y="6181344"/>
            <a:ext cx="347472" cy="347472"/>
          </a:xfrm>
          <a:prstGeom prst="ellipse">
            <a:avLst/>
          </a:prstGeom>
          <a:solidFill>
            <a:srgbClr val="FB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B1120"/>
                </a:solidFill>
              </a:defRPr>
            </a:pPr>
            <a:r>
              <a:t>10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" y="6144768"/>
            <a:ext cx="1188720" cy="292608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BD34D"/>
                </a:solidFill>
                <a:latin typeface="Segoe UI"/>
              </a:defRPr>
            </a:pPr>
            <a:r>
              <a:t>DONE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61630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Reports to user: "Fixed! Added null check, tests pass, team notified."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1371600"/>
            <a:ext cx="5029200" cy="521208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TOOLS THE AGENT USED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40880" y="1920240"/>
            <a:ext cx="4572000" cy="54864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40880" y="1920240"/>
            <a:ext cx="38100" cy="5486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69480" y="19385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Cascadia Code"/>
              </a:defRPr>
            </a:pPr>
            <a:r>
              <a:t>search_logs()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21671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Find errors in production logs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75520" y="2011680"/>
            <a:ext cx="1554480" cy="27432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Log system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40880" y="2606040"/>
            <a:ext cx="4572000" cy="54864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40880" y="2606040"/>
            <a:ext cx="38100" cy="54864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9480" y="26243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Cascadia Code"/>
              </a:defRPr>
            </a:pPr>
            <a:r>
              <a:t>read_file()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28529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Read source code files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75520" y="2697480"/>
            <a:ext cx="1554480" cy="27432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File system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40880" y="3291840"/>
            <a:ext cx="4572000" cy="54864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040880" y="3291840"/>
            <a:ext cx="38100" cy="54864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69480" y="33101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Cascadia Code"/>
              </a:defRPr>
            </a:pPr>
            <a:r>
              <a:t>edit_file()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69480" y="35387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Modify code to fix the bug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875520" y="3383280"/>
            <a:ext cx="1554480" cy="27432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File system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040880" y="3977640"/>
            <a:ext cx="4572000" cy="54864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040880" y="3977640"/>
            <a:ext cx="38100" cy="5486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69480" y="39959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Cascadia Code"/>
              </a:defRPr>
            </a:pPr>
            <a:r>
              <a:t>run_tests()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69480" y="42245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Execute test suite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875520" y="4069080"/>
            <a:ext cx="1554480" cy="27432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Terminal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040880" y="4663440"/>
            <a:ext cx="4572000" cy="54864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040880" y="4663440"/>
            <a:ext cx="38100" cy="54864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69480" y="46817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72B6"/>
                </a:solidFill>
                <a:latin typeface="Cascadia Code"/>
              </a:defRPr>
            </a:pPr>
            <a:r>
              <a:t>send_message()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69480" y="49103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Segoe UI"/>
              </a:defRPr>
            </a:pPr>
            <a:r>
              <a:t>Notify team on Slack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875520" y="4754880"/>
            <a:ext cx="1554480" cy="27432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4A3B8"/>
                </a:solidFill>
                <a:latin typeface="Segoe UI"/>
              </a:defRPr>
            </a:pPr>
            <a:r>
              <a:t>Slack API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040880" y="5394960"/>
            <a:ext cx="4572000" cy="100584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23760" y="54406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3760" y="57607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Each tool is a custom integration.</a:t>
            </a:r>
            <a:br/>
            <a:r>
              <a:t>What if there was a standard way to connect</a:t>
            </a:r>
            <a:br/>
            <a:r>
              <a:t>ALL these tools?  Enter MCP...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What is MCP?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Model Context Protocol -- the universal connector for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5303520" cy="237744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53035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THE ANALOGY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  <a:latin typeface="Segoe UI"/>
              </a:defRPr>
            </a:pPr>
            <a:r>
              <a:t>Before USB-C: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48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Segoe UI"/>
              </a:defRPr>
            </a:pPr>
            <a:r>
              <a:t>Every device had its own charger. Micro-USB, Lightning, barrel jacks...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Segoe UI"/>
              </a:defRPr>
            </a:pPr>
            <a:r>
              <a:t>After USB-C: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06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Segoe UI"/>
              </a:defRPr>
            </a:pPr>
            <a:r>
              <a:t>One universal port. Any device, any charger. Just works.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D34D"/>
                </a:solidFill>
                <a:latin typeface="Segoe UI"/>
              </a:defRPr>
            </a:pPr>
            <a:r>
              <a:t>MCP is USB-C for AI.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154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D34D"/>
                </a:solidFill>
                <a:latin typeface="Segoe UI"/>
              </a:defRPr>
            </a:pPr>
            <a:r>
              <a:t>One protocol. Any AI app. Any tool.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554480"/>
            <a:ext cx="5852160" cy="237744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554480"/>
            <a:ext cx="585216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TECHNICALLY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48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Open 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1488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by Anthropic, adopted industry-wide (GitHub, Google, etc.)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JSON-RPC 2.0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468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lightweight request/response 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788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Transport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788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stdio (local processes) or HTTP+SSE (remote servers)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10895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Discovery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10895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AI auto-discovers available tools at startup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429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Stateful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429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maintains session context between AI and tools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206240"/>
            <a:ext cx="5303520" cy="246888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WITHOUT MCP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343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Segoe UI"/>
              </a:defRPr>
            </a:pPr>
            <a:r>
              <a:t>N x M integrations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54880"/>
            <a:ext cx="118872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Copilot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257800"/>
            <a:ext cx="118872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Cursor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760720"/>
            <a:ext cx="118872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Custom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0" y="4754880"/>
            <a:ext cx="118872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GitHub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0" y="5257800"/>
            <a:ext cx="118872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Slack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0" y="5760720"/>
            <a:ext cx="118872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94A3B8"/>
                </a:solidFill>
                <a:latin typeface="Segoe UI"/>
              </a:defRPr>
            </a:pPr>
            <a:r>
              <a:t>DB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91640" y="4910328"/>
            <a:ext cx="2148840" cy="12700"/>
          </a:xfrm>
          <a:prstGeom prst="rect">
            <a:avLst/>
          </a:prstGeom>
          <a:solidFill>
            <a:srgbClr val="50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691640" y="5413248"/>
            <a:ext cx="2148840" cy="12700"/>
          </a:xfrm>
          <a:prstGeom prst="rect">
            <a:avLst/>
          </a:prstGeom>
          <a:solidFill>
            <a:srgbClr val="50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91640" y="5916168"/>
            <a:ext cx="2148840" cy="12700"/>
          </a:xfrm>
          <a:prstGeom prst="rect">
            <a:avLst/>
          </a:prstGeom>
          <a:solidFill>
            <a:srgbClr val="502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943600" y="4206240"/>
            <a:ext cx="5852160" cy="246888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WITH MCP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4343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Segoe UI"/>
              </a:defRPr>
            </a:pPr>
            <a:r>
              <a:t>N + M integrations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4754880"/>
            <a:ext cx="118872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Copilot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7269480" y="4800600"/>
            <a:ext cx="320040" cy="320040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035040" y="5257800"/>
            <a:ext cx="118872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Cursor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7269480" y="5303520"/>
            <a:ext cx="320040" cy="320040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035040" y="5760720"/>
            <a:ext cx="118872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Custom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7269480" y="5806440"/>
            <a:ext cx="320040" cy="320040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772400" y="4663440"/>
            <a:ext cx="1097280" cy="182880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0" y="5349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MCP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8915400" y="4800600"/>
            <a:ext cx="320040" cy="320040"/>
          </a:xfrm>
          <a:prstGeom prst="rightArrow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326880" y="4754880"/>
            <a:ext cx="118872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ADE80"/>
                </a:solidFill>
                <a:latin typeface="Segoe UI"/>
              </a:defRPr>
            </a:pPr>
            <a:r>
              <a:t>GitHub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8915400" y="5303520"/>
            <a:ext cx="320040" cy="320040"/>
          </a:xfrm>
          <a:prstGeom prst="rightArrow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326880" y="5257800"/>
            <a:ext cx="118872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ADE80"/>
                </a:solidFill>
                <a:latin typeface="Segoe UI"/>
              </a:defRPr>
            </a:pPr>
            <a:r>
              <a:t>Slack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8915400" y="5806440"/>
            <a:ext cx="320040" cy="320040"/>
          </a:xfrm>
          <a:prstGeom prst="rightArrow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326880" y="5760720"/>
            <a:ext cx="118872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ADE80"/>
                </a:solidFill>
                <a:latin typeface="Segoe UI"/>
              </a:defRPr>
            </a:pPr>
            <a:r>
              <a:t>DB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MCP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How Host, Client, Server, and Primitives work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63040"/>
            <a:ext cx="11612880" cy="3840480"/>
          </a:xfrm>
          <a:prstGeom prst="roundRect">
            <a:avLst/>
          </a:prstGeom>
          <a:solidFill>
            <a:srgbClr val="0E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MCP 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08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(VS Code, Copilot, Cursor, or your custom app)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2560320" cy="31089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560320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Segoe UI"/>
              </a:defRPr>
            </a:pPr>
            <a:r>
              <a:t>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GPT-4o / Claude / Gemini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346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Sees available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Decides which to 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Processes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Generates response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08960" y="3200400"/>
            <a:ext cx="502920" cy="320040"/>
          </a:xfrm>
          <a:prstGeom prst="rightArrow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49039" y="1920240"/>
            <a:ext cx="1554480" cy="91440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49039" y="1920240"/>
            <a:ext cx="155448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19933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DE80"/>
                </a:solidFill>
                <a:latin typeface="Segoe UI"/>
              </a:defRPr>
            </a:pPr>
            <a:r>
              <a:t>Client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1:1 session</a:t>
            </a:r>
            <a:br/>
            <a:r>
              <a:t>JSON-RPC 2.0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394960" y="2194560"/>
            <a:ext cx="457200" cy="320040"/>
          </a:xfrm>
          <a:prstGeom prst="rightArrow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49039" y="3154680"/>
            <a:ext cx="1554480" cy="91440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3154680"/>
            <a:ext cx="1554480" cy="381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32278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923C"/>
                </a:solidFill>
                <a:latin typeface="Segoe UI"/>
              </a:defRPr>
            </a:pPr>
            <a:r>
              <a:t>Client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3520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1:1 session</a:t>
            </a:r>
            <a:br/>
            <a:r>
              <a:t>JSON-RPC 2.0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394960" y="3429000"/>
            <a:ext cx="457200" cy="320040"/>
          </a:xfrm>
          <a:prstGeom prst="rightArrow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749039" y="4389120"/>
            <a:ext cx="1554480" cy="91440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49039" y="4389120"/>
            <a:ext cx="1554480" cy="381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39" y="44622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472B6"/>
                </a:solidFill>
                <a:latin typeface="Segoe UI"/>
              </a:defRPr>
            </a:pPr>
            <a:r>
              <a:t>Client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4754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1:1 session</a:t>
            </a:r>
            <a:br/>
            <a:r>
              <a:t>JSON-RPC 2.0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5394960" y="4663440"/>
            <a:ext cx="457200" cy="320040"/>
          </a:xfrm>
          <a:prstGeom prst="rightArrow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0" y="1920240"/>
            <a:ext cx="2560320" cy="9144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1920240"/>
            <a:ext cx="25603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19659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Segoe UI"/>
              </a:defRPr>
            </a:pPr>
            <a:r>
              <a:t>GitHub MCP Server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22402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Segoe UI"/>
              </a:defRPr>
            </a:pPr>
            <a:r>
              <a:t>search_code()   create_pr()   list_issues()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595360" y="2194560"/>
            <a:ext cx="411480" cy="320040"/>
          </a:xfrm>
          <a:prstGeom prst="rightArrow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943600" y="3154680"/>
            <a:ext cx="2560320" cy="9144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3154680"/>
            <a:ext cx="2560320" cy="381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3200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923C"/>
                </a:solidFill>
                <a:latin typeface="Segoe UI"/>
              </a:defRPr>
            </a:pPr>
            <a:r>
              <a:t>Database Server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34747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Segoe UI"/>
              </a:defRPr>
            </a:pPr>
            <a:r>
              <a:t>query(sql)   get_schema()   insert_row()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595360" y="3429000"/>
            <a:ext cx="411480" cy="320040"/>
          </a:xfrm>
          <a:prstGeom prst="rightArrow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943600" y="4389120"/>
            <a:ext cx="2560320" cy="91440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943600" y="4389120"/>
            <a:ext cx="2560320" cy="381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0" y="44348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72B6"/>
                </a:solidFill>
                <a:latin typeface="Segoe UI"/>
              </a:defRPr>
            </a:pPr>
            <a:r>
              <a:t>Custom Server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0" y="47091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Segoe UI"/>
              </a:defRPr>
            </a:pPr>
            <a:r>
              <a:t>deploy(env)   check_status()   rollback()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8595360" y="4663440"/>
            <a:ext cx="411480" cy="320040"/>
          </a:xfrm>
          <a:prstGeom prst="rightArrow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144000" y="2011680"/>
            <a:ext cx="1828800" cy="64008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120"/>
                </a:solidFill>
                <a:latin typeface="Segoe UI"/>
              </a:defRPr>
            </a:pPr>
            <a:r>
              <a:t>GitHub API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0" y="3246120"/>
            <a:ext cx="1828800" cy="640080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120"/>
                </a:solidFill>
                <a:latin typeface="Segoe UI"/>
              </a:defRPr>
            </a:pPr>
            <a:r>
              <a:t>PostgreSQL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0" y="4480560"/>
            <a:ext cx="1828800" cy="640080"/>
          </a:xfrm>
          <a:prstGeom prst="round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120"/>
                </a:solidFill>
                <a:latin typeface="Segoe UI"/>
              </a:defRPr>
            </a:pPr>
            <a:r>
              <a:t>AWS / Cloud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80" y="15544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stdio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94960" y="39319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HTTP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" y="5486400"/>
            <a:ext cx="11612880" cy="118872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532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MCP PRIMITIVES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5852160"/>
            <a:ext cx="1097280" cy="27432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120"/>
                </a:solidFill>
                <a:latin typeface="Segoe UI"/>
              </a:defRPr>
            </a:pPr>
            <a:r>
              <a:t>TOOLS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45920" y="58338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Functions AI calls to perform actions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45920" y="60807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create_issue(), send_msg(), deploy()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297680" y="5852160"/>
            <a:ext cx="1097280" cy="27432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120"/>
                </a:solidFill>
                <a:latin typeface="Segoe UI"/>
              </a:defRPr>
            </a:pPr>
            <a:r>
              <a:t>RESOURCES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0" y="58338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Data AI reads for context (read-only)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0" y="60807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file contents, DB schemas, configs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38160" y="5852160"/>
            <a:ext cx="1097280" cy="274320"/>
          </a:xfrm>
          <a:prstGeom prst="round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120"/>
                </a:solidFill>
                <a:latin typeface="Segoe UI"/>
              </a:defRPr>
            </a:pPr>
            <a:r>
              <a:t>PROMPTS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0" y="58338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Reusable instruction templates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0" y="608076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Segoe UI"/>
              </a:defRPr>
            </a:pPr>
            <a:r>
              <a:t>"summarize-pr", "triage-bug"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What Can Become an MCP Server?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If it has an API, a CLI, or data -- it can be an MCP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63040"/>
            <a:ext cx="3749039" cy="24231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3749039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Dev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Any tool your devs use daily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19456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GitHub / GitLab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51460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Jira / Linear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83464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CI/CD pipelines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154679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Docker / K8s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47472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Terraform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463040"/>
            <a:ext cx="3749039" cy="24231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463040"/>
            <a:ext cx="3749039" cy="381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923C"/>
                </a:solidFill>
                <a:latin typeface="Segoe UI"/>
              </a:defRPr>
            </a:pPr>
            <a:r>
              <a:t>Databases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8288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Any data source you query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219456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PostgreSQL / MySQL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51460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MongoDB / DynamoDB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83464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Redis / Elasticsearch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154679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S3 / Blob storage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47472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Data warehouses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463040"/>
            <a:ext cx="3749039" cy="24231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1463040"/>
            <a:ext cx="3749039" cy="381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Communication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18288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Any channel you communicate 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219456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Slack / Teams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251460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Email (SMTP/Graph)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283464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Confluence / Notion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3154679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Calendar / Scheduling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20" y="347472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PagerDuty / Opsgenie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4069080"/>
            <a:ext cx="3749039" cy="24231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069080"/>
            <a:ext cx="3749039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160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Cloud &amp; Infra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4348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Any infra you manage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480060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AWS services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512064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Azure / GCP APIs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544068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Monitoring (Datadog)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5760719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Log systems (Splunk)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" y="608076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DNS / CDN / LBs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06240" y="4069080"/>
            <a:ext cx="3749039" cy="24231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06240" y="4069080"/>
            <a:ext cx="3749039" cy="381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0" y="4160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Segoe UI"/>
              </a:defRPr>
            </a:pPr>
            <a:r>
              <a:t>Internal Tools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4348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Any internal system with an 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480060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Admin dashboards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43400" y="512064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CRM (Salesforce)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43400" y="544068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HR systems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43400" y="5760719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Billing / Payments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608076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Custom REST APIs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38160" y="4069080"/>
            <a:ext cx="3749039" cy="242316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38160" y="4069080"/>
            <a:ext cx="3749039" cy="381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4160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Segoe UI"/>
              </a:defRPr>
            </a:pPr>
            <a:r>
              <a:t>Knowledge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44348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Any knowledge your team needs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75320" y="480060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Documentation sites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75320" y="512064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Wikis / Runbooks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75320" y="544068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Code repositories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75320" y="5760719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PDF / Office docs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75320" y="6080760"/>
            <a:ext cx="3383280" cy="256032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BD5E1"/>
                </a:solidFill>
                <a:latin typeface="Segoe UI"/>
              </a:defRPr>
            </a:pPr>
            <a:r>
              <a:t>Vector DBs (RAG)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Build an MCP Server: From Idea to Working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5-step pattern + real Jira example your team can use today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1463040"/>
            <a:ext cx="365760" cy="36576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120"/>
                </a:solidFill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1828800"/>
            <a:ext cx="25400" cy="2743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356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IDENTIFY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356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Pick a tool your team uses that has an API or CLI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2103120"/>
            <a:ext cx="365760" cy="3657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120"/>
                </a:solidFill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2468880"/>
            <a:ext cx="25400" cy="2743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07568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Segoe UI"/>
              </a:defRPr>
            </a:pPr>
            <a:r>
              <a:t>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0756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List the top actions (tools) and data reads (resources)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2743200"/>
            <a:ext cx="365760" cy="36576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120"/>
                </a:solidFill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3108960"/>
            <a:ext cx="25400" cy="2743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715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Segoe UI"/>
              </a:defRPr>
            </a:pPr>
            <a:r>
              <a:t>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7157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Write a FastMCP server -- thin wrapper around the existing API</a:t>
            </a:r>
          </a:p>
        </p:txBody>
      </p:sp>
      <p:sp>
        <p:nvSpPr>
          <p:cNvPr id="18" name="Oval 17"/>
          <p:cNvSpPr/>
          <p:nvPr/>
        </p:nvSpPr>
        <p:spPr>
          <a:xfrm>
            <a:off x="365760" y="3383279"/>
            <a:ext cx="365760" cy="36576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120"/>
                </a:solidFill>
              </a:defRPr>
            </a:pPr>
            <a: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" y="3749039"/>
            <a:ext cx="25400" cy="27432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35584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923C"/>
                </a:solidFill>
                <a:latin typeface="Segoe UI"/>
              </a:defRPr>
            </a:pPr>
            <a:r>
              <a:t>CONFIG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35584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Add to VS Code settings.json -- Copilot auto-discovers it</a:t>
            </a:r>
          </a:p>
        </p:txBody>
      </p:sp>
      <p:sp>
        <p:nvSpPr>
          <p:cNvPr id="22" name="Oval 21"/>
          <p:cNvSpPr/>
          <p:nvPr/>
        </p:nvSpPr>
        <p:spPr>
          <a:xfrm>
            <a:off x="365760" y="4023360"/>
            <a:ext cx="365760" cy="365760"/>
          </a:xfrm>
          <a:prstGeom prst="ellipse">
            <a:avLst/>
          </a:prstGeom>
          <a:solidFill>
            <a:srgbClr val="FB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B1120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9959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D34D"/>
                </a:solidFill>
                <a:latin typeface="Segoe UI"/>
              </a:defRPr>
            </a:pPr>
            <a:r>
              <a:t>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9959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Ask Copilot in natural language -- it calls your tools!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1371600"/>
            <a:ext cx="4572000" cy="3931920"/>
          </a:xfrm>
          <a:prstGeom prst="roundRect">
            <a:avLst/>
          </a:prstGeom>
          <a:solidFill>
            <a:srgbClr val="08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03520" y="1371600"/>
            <a:ext cx="38100" cy="39319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1481328"/>
            <a:ext cx="42519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# jira_server.py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from mcp.server.fastmcp import FastMCP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from jira import JIRA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mcp = FastMCP("Jira Tools")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jira = JIRA(server="https://team.atlassian.net",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        basic_auth=("email", "token"))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@mcp.tool()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def get_my_tickets(status: str = "In Progress"):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"""Get tickets assigned to me."""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issues = jira.search_issues(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  f'assignee=currentUser() AND status="{status}"')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return "\n".join(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  f"{i.key}: {i.fields.summary}" for i in issues)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@mcp.tool()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def create_ticket(project: str, summary: str):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"""Create a new Jira ticket."""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issue = jira.create_issue(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  project=project, summary=summary,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  issuetype={"name": "Task"})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return f"Created {issue.key}"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@mcp.resource("jira://current-sprint")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def current_sprint():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"""Get all tickets in current sprint."""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issues = jira.search_issues(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  'sprint in openSprints()')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return "\n".join(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  f"{i.key} [{i.fields.status}] {i.fields.summary}"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  for i in issues)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if __name__ == "__main__":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mcp.run(transport="stdio")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5440680"/>
            <a:ext cx="4572000" cy="822960"/>
          </a:xfrm>
          <a:prstGeom prst="roundRect">
            <a:avLst/>
          </a:prstGeom>
          <a:solidFill>
            <a:srgbClr val="08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03520" y="5440680"/>
            <a:ext cx="38100" cy="82296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5550408"/>
            <a:ext cx="4251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// .vscode/settings.json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{ "mcp": { "servers": { "jira": {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"command": "python",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    "args": ["jira_server.py"]</a:t>
            </a:r>
          </a:p>
          <a:p>
            <a:pPr>
              <a:spcAft>
                <a:spcPts val="100"/>
              </a:spcAft>
              <a:defRPr sz="900">
                <a:solidFill>
                  <a:srgbClr val="CBD5E1"/>
                </a:solidFill>
                <a:latin typeface="Cascadia Code"/>
              </a:defRPr>
            </a:pPr>
            <a:r>
              <a:t>}}}}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4754880"/>
            <a:ext cx="4754880" cy="192024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4754880"/>
            <a:ext cx="4754880" cy="381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846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NOW ASK COPILOT: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257800"/>
            <a:ext cx="4389120" cy="2743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27608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"Show my in-progress tickets"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605272"/>
            <a:ext cx="4389120" cy="2743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6235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"Create a bug for the login crash"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952744"/>
            <a:ext cx="4389120" cy="2743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97103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"What's in our current sprint?"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300216"/>
            <a:ext cx="4389120" cy="27432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631850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Segoe UI"/>
              </a:defRPr>
            </a:pPr>
            <a:r>
              <a:t>"Create tickets for each TODO in this file"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6355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D34D"/>
                </a:solidFill>
                <a:latin typeface="Segoe UI"/>
              </a:defRPr>
            </a:pPr>
            <a:r>
              <a:t>~50 lines of Python!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End-to-End: Agent + MCP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Real scenario: "Triage all new bugs and assign them to the right developer"</a:t>
            </a:r>
          </a:p>
        </p:txBody>
      </p:sp>
      <p:sp>
        <p:nvSpPr>
          <p:cNvPr id="6" name="Oval 5"/>
          <p:cNvSpPr/>
          <p:nvPr/>
        </p:nvSpPr>
        <p:spPr>
          <a:xfrm>
            <a:off x="365760" y="1463040"/>
            <a:ext cx="411480" cy="4114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B1120"/>
                </a:solidFill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20"/>
            <a:ext cx="25400" cy="3200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You ask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"Triage new bugs: check severity, assign to right dev, notify on Slack"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219456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B1120"/>
                </a:solidFill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25400" cy="3200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Agent plans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23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Sub-tasks: (a) fetch new bugs (b) analyze each (c) assign (d) notify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2926080"/>
            <a:ext cx="411480" cy="4114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B1120"/>
                </a:solidFill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37560"/>
            <a:ext cx="25400" cy="3200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Calls Jira MCP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54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get_my_tickets(status='New') -- returns 8 unassigned bugs</a:t>
            </a:r>
          </a:p>
        </p:txBody>
      </p:sp>
      <p:sp>
        <p:nvSpPr>
          <p:cNvPr id="18" name="Oval 17"/>
          <p:cNvSpPr/>
          <p:nvPr/>
        </p:nvSpPr>
        <p:spPr>
          <a:xfrm>
            <a:off x="365760" y="3657600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B1120"/>
                </a:solidFill>
              </a:defRPr>
            </a:pPr>
            <a: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69080"/>
            <a:ext cx="25400" cy="3200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LLM analyzes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86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Reads title + description, infers severity &amp; component owner</a:t>
            </a:r>
          </a:p>
        </p:txBody>
      </p:sp>
      <p:sp>
        <p:nvSpPr>
          <p:cNvPr id="22" name="Oval 21"/>
          <p:cNvSpPr/>
          <p:nvPr/>
        </p:nvSpPr>
        <p:spPr>
          <a:xfrm>
            <a:off x="365760" y="4389120"/>
            <a:ext cx="411480" cy="4114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B1120"/>
                </a:solidFill>
              </a:defRPr>
            </a:pPr>
            <a: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00600"/>
            <a:ext cx="25400" cy="3200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923C"/>
                </a:solidFill>
                <a:latin typeface="Segoe UI"/>
              </a:defRPr>
            </a:pPr>
            <a:r>
              <a:t>Calls Jira 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17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transition_ticket('BUG-42', 'In Progress') for each bug</a:t>
            </a:r>
          </a:p>
        </p:txBody>
      </p:sp>
      <p:sp>
        <p:nvSpPr>
          <p:cNvPr id="26" name="Oval 25"/>
          <p:cNvSpPr/>
          <p:nvPr/>
        </p:nvSpPr>
        <p:spPr>
          <a:xfrm>
            <a:off x="365760" y="5120640"/>
            <a:ext cx="411480" cy="41148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B1120"/>
                </a:solidFill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532120"/>
            <a:ext cx="25400" cy="32004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074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72B6"/>
                </a:solidFill>
                <a:latin typeface="Segoe UI"/>
              </a:defRPr>
            </a:pPr>
            <a:r>
              <a:t>Calls Slack MCP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send_message(channel='#dev', text='8 bugs triaged &amp; assigned')</a:t>
            </a:r>
          </a:p>
        </p:txBody>
      </p:sp>
      <p:sp>
        <p:nvSpPr>
          <p:cNvPr id="30" name="Oval 29"/>
          <p:cNvSpPr/>
          <p:nvPr/>
        </p:nvSpPr>
        <p:spPr>
          <a:xfrm>
            <a:off x="365760" y="5852160"/>
            <a:ext cx="411480" cy="411480"/>
          </a:xfrm>
          <a:prstGeom prst="ellipse">
            <a:avLst/>
          </a:prstGeom>
          <a:solidFill>
            <a:srgbClr val="FB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B1120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D34D"/>
                </a:solidFill>
                <a:latin typeface="Segoe UI"/>
              </a:defRPr>
            </a:pPr>
            <a:r>
              <a:t>Reports 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080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"Done! 8 bugs triaged: 2 critical (Alice), 6 normal. Team notified."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1371600"/>
            <a:ext cx="5303520" cy="530352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1463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UNDER THE HOOD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1920240"/>
            <a:ext cx="4754880" cy="54864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YOU:  Type in Copilot Chat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2743200"/>
            <a:ext cx="4754880" cy="54864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78BFA"/>
                </a:solidFill>
                <a:latin typeface="Segoe UI"/>
              </a:defRPr>
            </a:pPr>
            <a:r>
              <a:t>COPILOT AGENT:  LLM reasons + plans steps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3566160"/>
            <a:ext cx="4754880" cy="54864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MCP CLIENT:  Routes to the right server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41605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8BDF8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4480560"/>
            <a:ext cx="1463040" cy="64008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120"/>
                </a:solidFill>
                <a:latin typeface="Segoe UI"/>
              </a:defRPr>
            </a:pPr>
            <a:r>
              <a:t>Jira</a:t>
            </a:r>
            <a:br/>
            <a:r>
              <a:t>Server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7406640" y="5166360"/>
            <a:ext cx="320040" cy="320040"/>
          </a:xfrm>
          <a:prstGeom prst="downArrow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549640" y="4480560"/>
            <a:ext cx="1463040" cy="640080"/>
          </a:xfrm>
          <a:prstGeom prst="round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120"/>
                </a:solidFill>
                <a:latin typeface="Segoe UI"/>
              </a:defRPr>
            </a:pPr>
            <a:r>
              <a:t>Slack</a:t>
            </a:r>
            <a:br/>
            <a:r>
              <a:t>Server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9098280" y="5166360"/>
            <a:ext cx="320040" cy="320040"/>
          </a:xfrm>
          <a:prstGeom prst="downArrow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241280" y="4480560"/>
            <a:ext cx="1463040" cy="640080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120"/>
                </a:solidFill>
                <a:latin typeface="Segoe UI"/>
              </a:defRPr>
            </a:pPr>
            <a:r>
              <a:t>GitHub</a:t>
            </a:r>
            <a:br/>
            <a:r>
              <a:t>Server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10789920" y="5166360"/>
            <a:ext cx="320040" cy="320040"/>
          </a:xfrm>
          <a:prstGeom prst="downArrow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58000" y="5577840"/>
            <a:ext cx="1463040" cy="45720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ADE80"/>
                </a:solidFill>
                <a:latin typeface="Segoe UI"/>
              </a:defRPr>
            </a:pPr>
            <a:r>
              <a:t>Jira 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49640" y="5577840"/>
            <a:ext cx="1463040" cy="45720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472B6"/>
                </a:solidFill>
                <a:latin typeface="Segoe UI"/>
              </a:defRPr>
            </a:pPr>
            <a:r>
              <a:t>Slack API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241280" y="5577840"/>
            <a:ext cx="1463040" cy="45720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B923C"/>
                </a:solidFill>
                <a:latin typeface="Segoe UI"/>
              </a:defRPr>
            </a:pPr>
            <a:r>
              <a:t>GitHub API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66560" y="6217920"/>
            <a:ext cx="4754880" cy="36576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0" y="6236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D34D"/>
                </a:solidFill>
                <a:latin typeface="Segoe UI"/>
              </a:defRPr>
            </a:pPr>
            <a:r>
              <a:t>Each MCP server is independent &amp; reusable across apps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FB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Start Building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645920" cy="38100"/>
          </a:xfrm>
          <a:prstGeom prst="rect">
            <a:avLst/>
          </a:prstGeom>
          <a:solidFill>
            <a:srgbClr val="FB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Your action plan and resources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5760720" cy="512064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760720" cy="38100"/>
          </a:xfrm>
          <a:prstGeom prst="rect">
            <a:avLst/>
          </a:prstGeom>
          <a:solidFill>
            <a:srgbClr val="FBD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D34D"/>
                </a:solidFill>
                <a:latin typeface="Segoe UI"/>
              </a:defRPr>
            </a:pPr>
            <a:r>
              <a:t>YOUR ACTION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1463040" cy="320040"/>
          </a:xfrm>
          <a:prstGeom prst="round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120"/>
                </a:solidFill>
                <a:latin typeface="Segoe UI"/>
              </a:defRPr>
            </a:pPr>
            <a:r>
              <a:t>THIS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Install MCP Python SDK:  pip install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3134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Build a hello-world MCP server (15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6151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Connect it to VS Code Copilot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45536"/>
            <a:ext cx="1463040" cy="320040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120"/>
                </a:solidFill>
                <a:latin typeface="Segoe UI"/>
              </a:defRPr>
            </a:pPr>
            <a:r>
              <a:t>NEXT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1455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Pick ONE internal tool your team uses daily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447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Map its top 3-5 operations to MCP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749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Build &amp; share the MCP server with your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79392"/>
            <a:ext cx="1463040" cy="320040"/>
          </a:xfrm>
          <a:prstGeom prst="round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120"/>
                </a:solidFill>
                <a:latin typeface="Segoe UI"/>
              </a:defRPr>
            </a:pPr>
            <a:r>
              <a:t>MONTH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2793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Add 2-3 more MCP servers (DB, Slack, CI/CD)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5811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Combine them: multi-tool agent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8828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Segoe UI"/>
              </a:defRPr>
            </a:pPr>
            <a:r>
              <a:t>Document &amp; share patterns with the org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86400"/>
            <a:ext cx="5303520" cy="868680"/>
          </a:xfrm>
          <a:prstGeom prst="roundRect">
            <a:avLst/>
          </a:prstGeom>
          <a:solidFill>
            <a:srgbClr val="08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Segoe UI"/>
              </a:defRPr>
            </a:pPr>
            <a:r>
              <a:t>QUICKSTART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806440"/>
            <a:ext cx="4937760" cy="457200"/>
          </a:xfrm>
          <a:prstGeom prst="roundRect">
            <a:avLst/>
          </a:prstGeom>
          <a:solidFill>
            <a:srgbClr val="08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806440"/>
            <a:ext cx="3810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916168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CBD5E1"/>
                </a:solidFill>
                <a:latin typeface="Cascadia Code"/>
              </a:defRPr>
            </a:pPr>
            <a:r>
              <a:t>pip install mcp</a:t>
            </a:r>
          </a:p>
          <a:p>
            <a:pPr>
              <a:spcAft>
                <a:spcPts val="100"/>
              </a:spcAft>
              <a:defRPr sz="1000">
                <a:solidFill>
                  <a:srgbClr val="CBD5E1"/>
                </a:solidFill>
                <a:latin typeface="Cascadia Code"/>
              </a:defRPr>
            </a:pPr>
            <a:r>
              <a:t>python -c "from mcp.server.fastmcp import FastMCP; print('Ready!')"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463040"/>
            <a:ext cx="5486400" cy="5120640"/>
          </a:xfrm>
          <a:prstGeom prst="roundRect">
            <a:avLst/>
          </a:prstGeom>
          <a:solidFill>
            <a:srgbClr val="13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463040"/>
            <a:ext cx="54864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RESOURCES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Segoe UI"/>
              </a:defRPr>
            </a:pPr>
            <a:r>
              <a:t>MCP Official Docs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modelcontextprotocol.io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Segoe UI"/>
              </a:defRPr>
            </a:pPr>
            <a:r>
              <a:t>MCP Python SDK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github.com/modelcontextprotocol/python-sdk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017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Segoe UI"/>
              </a:defRPr>
            </a:pPr>
            <a:r>
              <a:t>MCP TypeScript SDK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0175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github.com/modelcontextprotocol/typescript-sdk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520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923C"/>
                </a:solidFill>
                <a:latin typeface="Segoe UI"/>
              </a:defRPr>
            </a:pPr>
            <a:r>
              <a:t>1000+ Pre-built Servers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520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github.com/modelcontextprotocol/servers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VS Code MCP Setup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4023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code.visualstudio.com/docs/copilot/chat/mcp-servers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4526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Copilot Agent Mode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526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github.blog/ai-and-ml/github-copilot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Segoe UI"/>
              </a:defRPr>
            </a:pPr>
            <a:r>
              <a:t>OpenAI Function Calling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platform.openai.com/docs/guides/function-calling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532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Segoe UI"/>
              </a:defRPr>
            </a:pPr>
            <a:r>
              <a:t>FastMCP Quickstart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5532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gofastmcp.com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0" y="6035040"/>
            <a:ext cx="5029200" cy="457200"/>
          </a:xfrm>
          <a:prstGeom prst="roundRect">
            <a:avLst/>
          </a:prstGeom>
          <a:solidFill>
            <a:srgbClr val="1A25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60533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D34D"/>
                </a:solidFill>
                <a:latin typeface="Segoe UI"/>
              </a:defRPr>
            </a:pPr>
            <a:r>
              <a:t>Check existing MCP servers before building from scratch!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